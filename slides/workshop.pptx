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2200" b="1" spc="-5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D4C9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SAIT  ·  MAY 27  ·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3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to Code</a:t>
            </a:r>
            <a:endParaRPr lang="en-US" sz="8000" dirty="0"/>
          </a:p>
          <a:p>
            <a:pPr indent="0" marL="0">
              <a:buNone/>
            </a:pPr>
            <a:r>
              <a:rPr lang="en-US" sz="8000" b="1" spc="-3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With AI.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C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 guarded agent in 90 minutes.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Kanis Patel  ·  Founsi AI  ·  learnagentic.substack.com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WHO'S TALKING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I'm Kanis.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turn complex physical systems into AI problems.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Computational simulation at IIT and the University of Alberta — fluid dynamics, numerical solvers, ML on physical phenomena. Production ML at PwC and AltaML. Then co-founded BinoLoop as CTO, building AI perception (vision + speech + LLMs) for regulated, high-stakes work.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Now at Founsi: point your camera, your inventory builds itself. Multimodal AI closing the gap between digital intelligence and what you actually own.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I'VE BUILT 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55E7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IIT (ISM)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47088" y="41605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088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55E7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 Alberta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36976" y="41605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55E7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PwC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41605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55E7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AltaML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16752" y="41605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55E7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BinoLoop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41605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655E7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 ·  39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TONIGHT'S 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you walk out with.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937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6537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working Cursor setup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3865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937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6829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guarded agent you built yourself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8895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937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7121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first AGENTS.md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937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7413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337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mental model that scales to any AI tool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8953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5400">
            <a:solidFill>
              <a:srgbClr val="937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7705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7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bookmarks page worth 6 months of self-study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 ·  39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Coding changed shape.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7E7A8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Writing code.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 to autocomplete.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Copy from Stack Overflow.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Debug it yourself.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Ship it yourself.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9378FF"/>
            </a:solidFill>
            <a:prstDash val="solid"/>
          </a:ln>
          <a:effectLst>
            <a:outerShdw sx="100000" sy="100000" kx="0" ky="0" algn="bl" rotWithShape="0" blurRad="228600" dist="76200" dir="8100000">
              <a:srgbClr val="9378F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8348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Directing code.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8348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Write a prompt.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a diff.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 or redline.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moving.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Different skill. Tonight is about training the second one.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 ·  39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 agent is a loop.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+ AGENTS.md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rules +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58568" y="2834640"/>
            <a:ext cx="292608" cy="0"/>
          </a:xfrm>
          <a:prstGeom prst="line">
            <a:avLst/>
          </a:prstGeom>
          <a:noFill/>
          <a:ln w="31750">
            <a:solidFill>
              <a:srgbClr val="9378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210312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9378FF"/>
          </a:solidFill>
          <a:ln w="19050">
            <a:solidFill>
              <a:srgbClr val="9378FF"/>
            </a:solidFill>
            <a:prstDash val="solid"/>
          </a:ln>
          <a:effectLst>
            <a:outerShdw sx="100000" sy="100000" kx="0" ky="0" algn="bl" rotWithShape="0" blurRad="228600" dist="76200" dir="8100000">
              <a:srgbClr val="9378F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LLM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26974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F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decides: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F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 or tool?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2834640"/>
            <a:ext cx="292608" cy="0"/>
          </a:xfrm>
          <a:prstGeom prst="line">
            <a:avLst/>
          </a:prstGeom>
          <a:noFill/>
          <a:ln w="31750">
            <a:solidFill>
              <a:srgbClr val="9378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210312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26974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reads, writes,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fetches, runs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56248" y="2834640"/>
            <a:ext cx="292608" cy="0"/>
          </a:xfrm>
          <a:prstGeom prst="line">
            <a:avLst/>
          </a:prstGeom>
          <a:noFill/>
          <a:ln w="31750">
            <a:solidFill>
              <a:srgbClr val="9378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95160" y="210312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Result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26974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 to the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40980" y="3794760"/>
            <a:ext cx="-6400800" cy="0"/>
          </a:xfrm>
          <a:prstGeom prst="line">
            <a:avLst/>
          </a:prstGeom>
          <a:noFill/>
          <a:ln w="19050">
            <a:solidFill>
              <a:srgbClr val="7B5EF0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11480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Everything tonight is about getting the right stuff into that loop.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 ·  39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FOUR PILLARS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Everything fits into four buckets.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2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4592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AGENTS.md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.cursorrules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3840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920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2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8521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Rules &amp; Memory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85216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it remembers,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you tell it once.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40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46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2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16459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Tools &amp; MCP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4592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it can do.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it can't.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840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246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2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58521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Safeguards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85216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you don't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 burned.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07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minutes each. Open Cursor now if you haven't.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 ·  39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TONIGHT'S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Guarded Agent.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548640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25400">
            <a:solidFill>
              <a:srgbClr val="9378FF"/>
            </a:solidFill>
            <a:prstDash val="solid"/>
          </a:ln>
          <a:effectLst>
            <a:outerShdw sx="100000" sy="100000" kx="0" ky="0" algn="bl" rotWithShape="0" blurRad="228600" dist="76200" dir="8100000">
              <a:srgbClr val="9378F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Your Guarded Agent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94560" y="2788920"/>
            <a:ext cx="109728" cy="109728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Scoped to one folder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788920"/>
            <a:ext cx="109728" cy="109728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 allowlist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94560" y="3246120"/>
            <a:ext cx="109728" cy="109728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Approval before destructive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246120"/>
            <a:ext cx="109728" cy="109728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secrets in context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94560" y="3703320"/>
            <a:ext cx="109728" cy="109728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cap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703320"/>
            <a:ext cx="109728" cy="109728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507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engineers don't ship unguarded agents. Tonight you build with the rails 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 ·  39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7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65760" cy="365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FOLLOW ALONG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 Cursor right now.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300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Cursor is open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43000" y="25328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= Claude Sonnet 4.6 (or whatever Cursor offers)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3054096"/>
            <a:ext cx="457200" cy="45720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3000" y="309981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folder ~/sait-workshop and open it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43000" y="366674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 the integrated terminal (Ctrl + `)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57200" y="4507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API keys needed. Cursor's bundled inference is enough.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 ·  39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01  / 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0" b="1" spc="-300" kern="0" dirty="0">
                <a:solidFill>
                  <a:srgbClr val="E4DD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3383280" y="16916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383280" y="3063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AGENTS.md  ·  .cursorrules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280" y="36118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single highest-leverage thing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you'll learn tonight.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 ·  39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01  · 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Meet AGENTS.md.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README, but written for the AI. It's the universal context file — Cursor reads it. Claude Code reads it. Codex reads it.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file. Every tool. You write it once, every agent that touches your repo gets the same briefing.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 →  agents.md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 ·  39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01  ·  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goes in.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this project 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paragraph. Plain English.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783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2064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Languages, frameworks, key libs.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to run / test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Exact commands. Copy-paste runnable.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560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2064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Conventions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Naming, structure, the invisible rules.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5.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584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 / Don't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agent's guardrails.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6.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12064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File map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12064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things live.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examples in the wild: 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31720" y="429768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429768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github.com/sst/opencode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42976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→ A1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 ·  39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7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65760" cy="365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FOLLOW ALONG  ·  3 MIN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Write your AGENTS.md.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I'll write one on screen. You write one in your folder.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1031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AGENTS.md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1. What this project 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CLI that summarizes PDFs in a folder.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me. Pre-MVP. Just runs locally.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6. Guardrails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run rm, git push --force...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read .env or secrets/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Explain before non-trivial edits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507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Save. Then ask Cursor a question. Watch it cite the file.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 ·  39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02  / 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0" b="1" spc="-300" kern="0" dirty="0">
                <a:solidFill>
                  <a:srgbClr val="E4DD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3383280" y="169164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Rules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2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Memory.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383280" y="3611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Operating standards. What it remembers.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280" y="4160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AGENTS.md is the briefing. Rules are the standing orders.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 ·  39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02  ·  LAYERS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Four layers, broadest to most specific.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420624"/>
          </a:xfrm>
          <a:prstGeom prst="roundRect">
            <a:avLst>
              <a:gd name="adj" fmla="val 17391"/>
            </a:avLst>
          </a:prstGeom>
          <a:solidFill>
            <a:srgbClr val="D4C9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Global rules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6916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preferences across all projects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420624"/>
          </a:xfrm>
          <a:prstGeom prst="roundRect">
            <a:avLst>
              <a:gd name="adj" fmla="val 17391"/>
            </a:avLst>
          </a:prstGeom>
          <a:solidFill>
            <a:srgbClr val="9378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 rules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219456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.cursorrules / .cursor/rules/*.md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7680960" cy="420624"/>
          </a:xfrm>
          <a:prstGeom prst="roundRect">
            <a:avLst>
              <a:gd name="adj" fmla="val 17391"/>
            </a:avLst>
          </a:prstGeom>
          <a:solidFill>
            <a:srgbClr val="7B5EF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project's briefing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680960" cy="420624"/>
          </a:xfrm>
          <a:prstGeom prst="roundRect">
            <a:avLst>
              <a:gd name="adj" fmla="val 17391"/>
            </a:avLst>
          </a:prstGeom>
          <a:solidFill>
            <a:srgbClr val="2E2C3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004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Memory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32004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facts it learned in conversation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inspiration: 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42976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docs.cursor.com/rules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429768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297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cursor.directory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42976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awesome-cursorrules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 ·  39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02  ·  WHAT BELONGS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goes in rules. What doesn't.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2DA4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A4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✓  DO put in rules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"Always run tests after editing"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"Prefer pytest over unittest"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"Don't touch migrations without asking"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"Explain before non-trivial edits"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8404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553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53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✗  DON'T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5146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Details that change daily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whole architecture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Secrets, tokens, keys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Anything the AI can read from the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Rules are for the invisible — preferences, priorities, prior incidents.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 ·  39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02  ·  RULES BY ROLE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Rules look different by stack.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562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Run pytest after every src/ change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Show migration SQL before applying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Type hints required; mypy clean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562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92040" y="21945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Use design system tokens; no custom colors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Aria labels on every interactive element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Verify mobile-first at 380px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2783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DevOps / SRE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77240" y="35661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terraform plan before any apply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Audit log every infra change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Dry-run all destructive commands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306324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278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Data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892040" y="35661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Never log row contents; PII flagged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Parameterized queries only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Verify counts before &amp; after migrations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skeleton, different priorities. Full templates in appendix.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 ·  39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7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11480"/>
            <a:ext cx="365760" cy="365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FOLLOW ALONG  ·  90 SEC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 one rule.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.cursorrules in your folder. Add one rule that matters. Pick from below — or invent one.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3317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.cursorrules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explain edits before making them.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After any change to src/, run pytest and show me the output.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run destructive shell commands without asking.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Keep diffs small; one concern per turn.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  ·  39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03  / 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0" b="1" spc="-300" kern="0" dirty="0">
                <a:solidFill>
                  <a:srgbClr val="E4DD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3383280" y="169164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Tools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2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MCP.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383280" y="3611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the agent can do.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280" y="4160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 is knowledge. Tools are capability.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 ·  39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03  ·  MCP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MCP servers expose three things.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Context Protocol — Anthropic's standard for plugging external capabilities into AI clients. Cursor, Claude Code, Codex all speak it. An MCP server can expose any combination of: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88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770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Tools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Functions the model can call.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(read_file, run_query, send_message)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606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788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2770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Resources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56616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Read-only data the model can fetch.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(a doc, a config, a record set)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606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889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2770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Prompts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30936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Templated workflows the user can trigger.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("summarize_pr", "file_bug")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Sequential-thinking? It's a reasoning aid. A Prompt, not a Tool.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 ·  39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03  ·  STARTERS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four to install first.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922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916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1810512"/>
            <a:ext cx="868680" cy="246888"/>
          </a:xfrm>
          <a:prstGeom prst="roundRect">
            <a:avLst>
              <a:gd name="adj" fmla="val 14815"/>
            </a:avLst>
          </a:prstGeom>
          <a:solidFill>
            <a:srgbClr val="EFEB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0" y="181051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434840" y="169164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&amp; write files. Scope-limited to one folder.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24028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408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2402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74720" y="2359152"/>
            <a:ext cx="868680" cy="246888"/>
          </a:xfrm>
          <a:prstGeom prst="roundRect">
            <a:avLst>
              <a:gd name="adj" fmla="val 14815"/>
            </a:avLst>
          </a:prstGeom>
          <a:solidFill>
            <a:srgbClr val="EFEB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235915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TOOL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434840" y="224028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Pull URLs into context.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278892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8895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7889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474720" y="2907792"/>
            <a:ext cx="868680" cy="246888"/>
          </a:xfrm>
          <a:prstGeom prst="roundRect">
            <a:avLst>
              <a:gd name="adj" fmla="val 14815"/>
            </a:avLst>
          </a:prstGeom>
          <a:solidFill>
            <a:srgbClr val="EFEB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74720" y="290779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TOOL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434840" y="278892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 with branches &amp; commits.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333756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4381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33375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sequential-thinking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474720" y="3456432"/>
            <a:ext cx="868680" cy="246888"/>
          </a:xfrm>
          <a:prstGeom prst="roundRect">
            <a:avLst>
              <a:gd name="adj" fmla="val 14815"/>
            </a:avLst>
          </a:prstGeom>
          <a:solidFill>
            <a:srgbClr val="E4DD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474720" y="345643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REASONING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434840" y="33375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Structured scratchpad for hard problems.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 do things. Reasoning servers help the model think. Both useful — for different reasons.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  ·  39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03  ·  THE ECOSYSTEM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Where to find more.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MCP MARKETPLACES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mcp.so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searchable directory of servers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smithery.ai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054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registry + one-click install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github.com/modelcontextprotocol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official reference servers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72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awesome-mcp-servers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73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community-curated list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3840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9378FF"/>
            </a:solidFill>
            <a:prstDash val="solid"/>
          </a:ln>
          <a:effectLst>
            <a:outerShdw sx="100000" sy="100000" kx="0" ky="0" algn="bl" rotWithShape="0" blurRad="228600" dist="76200" dir="8100000">
              <a:srgbClr val="9378FF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DEMO COMING 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993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Figma MCP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83480" y="25420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"Turn this Figma frame into a React component." Cursor pulls the real layers, writes the code.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200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Step-by-step in appendix → A7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36576"/>
          </a:xfrm>
          <a:prstGeom prst="rect">
            <a:avLst/>
          </a:prstGeom>
          <a:solidFill>
            <a:srgbClr val="D6CC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94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FREE FULL-APP DESIGNS TO CLONE &amp; CONVERT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148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Chat Apps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39112" y="41148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39112" y="4114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SaaS Dashboards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66744" y="41148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 Apps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11496" y="411480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4114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 Pages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93408" y="411480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9378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figma-experiments.md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  ·  39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03  ·  THE WALL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Filesystem MCP, scoped.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path you pass to the server is the wall. Outside it, the agent literally cannot read or write — not asking nicely, structurally blocked.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8046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"filesystem":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"npx",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"args": ["-y", "@modelcontextprotocol/server-filesystem",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"/Users/you/sait-workshop"]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  ·  39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04  / 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0" b="1" spc="-300" kern="0" dirty="0">
                <a:solidFill>
                  <a:srgbClr val="E4DD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3383280" y="16916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Safeguards.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383280" y="3063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you don't get burned.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280" y="36118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part nobody talks about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until they've been burned.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  ·  39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PILLAR 04  ·  THE FIVE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Five guards. Always.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Don't auto-run commands you can't read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9842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Cursor will offer Auto-Run. Off until you trust the project.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2286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Commit before letting the agent loose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532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clean git status is your undo button.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.env discipline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815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real secrets where the agent's context can reach.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3000" y="3383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Read every diff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6301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Especially the long ones.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4300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Scope your asks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78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"Refactor the whole thing" is how bad PRs are born.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  ·  39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BONUS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Run the whole thing offline.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Ollama + LM Studio let you run open models — Llama, Qwen, Mistral — on your laptop. The most guarded agent in the world is the one that never sends data anywhere.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378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Cloud (Claude/GPT)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378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Local (Ollama)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2C3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Quality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★★★★★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★★★ (improving)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2C3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Speed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Fast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Depends on hardware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2C3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Cost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API $$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Free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2C3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Privacy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Sent to provider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Stays on machine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2C3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Offline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55E74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Yes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Bonus Lab 5: swap the brain to Ollama. WiFi off. Agent still works.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  ·  39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TAKE A PHOTO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Bookmark these.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AWESOME LISTS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756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github.com/PatrickJS/awesome-cursorrules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github.com/punkpeye/awesome-mcp-servers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github.com/asgeirtj/system_prompts_leaks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PROMPT LIBRARIES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0756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docs.anthropic.com/claude/prompt-library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cookbook.openai.com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promptingguide.ai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CURSOR &amp; TOOLS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644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cursor.directory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docs.cursor.com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modelcontextprotocol.io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2644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lmstudio.ai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huggingface.co/models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lists in the repo:  github.com/remembr-xyz/code-with-ai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  ·  39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NEXT 90 MINUTES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Six labs. One agent.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7A8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Setup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5780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Cursor + project folder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6:40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7A8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context file for your project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6974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7A8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MCP, scoped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Filesystem MCP locked to your folder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154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7A8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Cursor is the agent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5780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Make the loop visible; tighten one rule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7:40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611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7A8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6596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 team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5780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Break your own guardrails, then patch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7:55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069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7A8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9659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 models (bonus)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5780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Cursor → Ollama → WiFi off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  ·  39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65760"/>
            <a:ext cx="128016" cy="128016"/>
          </a:xfrm>
          <a:prstGeom prst="ellipse">
            <a:avLst/>
          </a:prstGeom>
          <a:solidFill>
            <a:srgbClr val="937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48640"/>
            <a:ext cx="22860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memory layer for your physical life.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Founsi catalogs, tracks, and remembers everything you own — so you don't have to.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72384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Raising pre-seed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114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you build with AI, let's talk.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29584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 beta soon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11480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Scan the next slide to join the waitlist.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86784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Design partners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11480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C3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you've ever lost something expensive, find me after.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With AI  ·  SAIT  ·  2026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  ·  39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Subscribe. Clone. Find me.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C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QR codes. Take a photo before you leave.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57400"/>
            <a:ext cx="1737360" cy="1737360"/>
          </a:xfrm>
          <a:prstGeom prst="rect">
            <a:avLst/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57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QR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Newsletter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learnagentic.substack.com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794760" y="2057400"/>
            <a:ext cx="1737360" cy="1737360"/>
          </a:xfrm>
          <a:prstGeom prst="rect">
            <a:avLst/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057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QR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Workshop repo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github.com/remembr-xyz/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code-with-ai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057400"/>
            <a:ext cx="1737360" cy="1737360"/>
          </a:xfrm>
          <a:prstGeom prst="rect">
            <a:avLst/>
          </a:prstGeom>
          <a:solidFill>
            <a:srgbClr val="EFEBFF"/>
          </a:solidFill>
          <a:ln w="12700">
            <a:solidFill>
              <a:srgbClr val="937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057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QR 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Find me on 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@above_almighty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Founsi</a:t>
            </a:r>
            <a:pPr indent="0" marL="0">
              <a:buNone/>
            </a:pPr>
            <a:r>
              <a:rPr lang="en-US" sz="1800" b="1" spc="-5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D4C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 you at 6:30.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78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Reference material.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Examples in the wild, full rule templates by role, MCP type breakdown, step-by-step setup guides for Figma + Stitch + filesystem MCP, lab quick-reference. Use this during the hands-on or take it home.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 ·  39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AGENTS.md in the wild.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three of these end-to-end. You'll learn faster than from any tutorial.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92040" y="1965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official spec + canonical examples.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8046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500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github.com/sst/opencode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350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Excellent AGENTS.md for a real open-source agent.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8046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340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github.com/openai/codex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7340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OpenAI's coding agent — sets the standard for tool authors.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8046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1810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github.com/elysiajs/elysia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1181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Web-framework example. Shows tech-stack conventions.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8046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021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github.com/cline/cline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502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Comprehensive rules-style AGENTS.md.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86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github.com/vercel/ai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886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SDK — strong file-map section worth copying.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AGENTS.md is still evolving. The spec stabilized in late 2024; tools now compete on how well they read it.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  ·  39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Cursor rules: where to crib from.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with the official docs, then plunder cursor.directory for your stack.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5740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FEB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574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OFFICIAL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docs.cursor.com/context/rules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Cursor reads rules. Read this once.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51460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FEB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5146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OFFICIAL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0" y="24231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github.com/getcursor/cursor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4231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Cursor's own repo — has reference rules examples.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97180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FEB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9718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COMMUNITY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28800" y="28803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cursor.directory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8803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Searchable directory. Filter by stack (React, FastAPI, Rust, Go, etc.).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42900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FEB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429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COMMUNITY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28800" y="3337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github.com/PatrickJS/awesome-cursorrules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3375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biggest curated rules library.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88620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FEBFF"/>
          </a:solidFill>
          <a:ln w="6350">
            <a:solidFill>
              <a:srgbClr val="937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8862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B5EF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DEEP CUT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0" y="37947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github.com/asgeirtj/system_prompts_leaks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7947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Leaked system prompts of major tools — gold for learning what good prompting looks like.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  ·  39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Rules template: Backend.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into .cursorrules. Tune the specifics to your stack and team.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0467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7680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Operating rules — backend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 pytest after every change in src/. Show output.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New public function gets at least one test.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Safety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run migrations without showing me the SQL first.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commit .env, *.key, anything in secrets/.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parameterized queries; never string-concat SQL.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Style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 hints on every public function. mypy clean before commit.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Errors: raise specific exceptions; never bare except.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Imports: absolute from src/; never wildcard.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33  ·  39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Rules template: Frontend.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system + accessibility + small components. Adjust for React/Vue/Svelte specifics.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0467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7680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Operating rules — frontend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Design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design tokens; never invent hex codes inline.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 existing spacing scale (4, 8, 16, 24, 32, 48).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One Tailwind class per concern; no arbitrary [w-[342px]].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Accessibility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Aria labels on every interactive element (button, input, link).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Focus indicators visible; 2px outline minimum.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Verify mobile-first at 380px; then scale up.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Components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Prefer composition over inheritance. Small components win.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Props typed with TypeScript; never any without a TODO.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New component? Add it to Storybook with at least 3 states.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34  ·  39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Rules template: DevOps &amp; Data.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DevOps / SRE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terraform plan before any apply.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me the diff. I approve.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kubectl delete without confirm.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Audit log every infra change.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Dry-run all destructive commands.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Treat prod like prod, not staging.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Secrets in Vault/SOPS, never .env in prod.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New service? Add SLOs in the same PR.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69164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engineering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PII columns flagged in schema.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Never log row contents.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Parameterized queries only. No concat.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Schema changes require RFC PR first.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Verify row counts before/after migration.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Backfills run in batches; checkpointed.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Lineage: every table has owner + source.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Sample query results, never SELECT *.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  ·  39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Adding an MCP server in Cursor.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 MCP settings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Cursor → Settings (⌘,) → search "MCP" → click "MCP Servers"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Edit mcp.json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Cursor opens the config file. Add a server entry under "mcpServers"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Specify command + args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 = how to run it (npx, python, node). args = arguments incl. scope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Save → Cursor auto-starts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246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green dot in the MCP list means the server is running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9378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Test in chat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 a new chat. The agent now has the server's tools available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Restart Cursor if a server fails to start. Most failures are missing npx / wrong path.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36  ·  39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A7  ·  LIVE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Figma MCP — full setup.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Lets your agent read your Figma frames and turn them into code. ~3 minutes to set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 Get your Figma personal access token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Figma → Settings → Account → Personal access tokens → Generate. File content read.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2. Add to mcp.json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7772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8803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"figma":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"npx",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2C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["-y", "figma-developer-mcp", "--stdio"],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37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"env": { "FIGMA_API_KEY": "figd_..." }</a:t>
            </a:r>
            <a:pPr indent="0" marL="0">
              <a:buNone/>
            </a:pPr>
            <a:r>
              <a:rPr lang="en-US" sz="11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 Try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chat: "Using Figma, fetch frame [URL] and write a React component matching the layout."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pattern: Figma Dev Mode MCP, figma-mcp, official Figma server — all work.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37  ·  39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A8  ·  MORE CONNECTORS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Other connectors worth trying.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Stitch (Google)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764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Google's design tool, similar to Figma. MCP exposes design boards as resources.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2039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smithery.ai for "stitch" — install via Smithery's one-click flow.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78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2478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Read/write Notion pages and databases. Great for spec-driven coding from a Notion brief.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7523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@notionhq/notion-mcp-server  ·  needs Notion integration token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Postgres / SQLite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191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Read-only SQL from the agent. Use a dedicated read-only DB user.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34655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@modelcontextprotocol/server-postgres or server-sqlite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C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04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GitHub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17520" y="3904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Issues, PRs, releases. Token-scoped to a single repo when possible.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178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@modelcontextprotocol/server-github  ·  needs GitHub PAT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  ·  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APPENDIX  ·  A9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Lab quick-reference.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step-by-step is in the repo at github.com/remembr-xyz/code-with-ai/labs.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Cursor open  ·  model picked  ·  project folder ready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2951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295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Write AGENTS.md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295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Customize 9-section template for your project; verify Cursor cites 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Install scoped filesystem MCP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2715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 mcp.json with absolute path; verify out-of-scope read is blocked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36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Cursor IS your guarded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3136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Give it a real task; watch the loop; add one new rule based on what you saw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557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557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Red-team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35570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Path traversal · symlink · prompt injection · secret extraction · authority spoof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78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C3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 models (bonus)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5E7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Install Ollama  ·  point Cursor at localhost:11434/v1  ·  WiFi off  ·  agent still works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5E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you fall behind: skip ahead at the next lab boundary. Each is standalone.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APPENDIX  ·  REFERENCE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7A8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  ·  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Code with AI — SAIT Workshop</dc:title>
  <dc:subject>Build a guarded agent in 90 minutes</dc:subject>
  <dc:creator>Kanishk Patel</dc:creator>
  <cp:lastModifiedBy>Kanishk Patel</cp:lastModifiedBy>
  <cp:revision>1</cp:revision>
  <dcterms:created xsi:type="dcterms:W3CDTF">2026-05-26T16:30:12Z</dcterms:created>
  <dcterms:modified xsi:type="dcterms:W3CDTF">2026-05-26T16:30:12Z</dcterms:modified>
</cp:coreProperties>
</file>